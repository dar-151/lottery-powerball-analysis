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12bf60667_0_10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12bf60667_0_10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b12bf60667_0_10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b12bf60667_0_10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12bf60667_0_10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b12bf60667_0_10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12bf60667_0_10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b12bf60667_0_10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12bf60667_0_10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12bf60667_0_10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b12bf60667_0_10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b12bf60667_0_10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12bf60667_0_1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b12bf60667_0_1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12bf60667_0_1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12bf60667_0_1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12bf60667_0_1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b12bf60667_0_1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12bf60667_0_1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b12bf60667_0_1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Analyzing Winning Numbers in the New York Powerball Lottery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Darian Kacanski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Introduction/Purpose 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Explore </a:t>
            </a:r>
            <a:r>
              <a:rPr lang="en"/>
              <a:t>patterns</a:t>
            </a:r>
            <a:r>
              <a:rPr lang="en"/>
              <a:t> within the New York Powerball Lottery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(2010-2025).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Benefits anyone who plays or wants to play Powerball. (Who wouldn’t want to increase chances of winning?)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Which Powerball numbers show up most often?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Are there duplicate winning number combinations, and how many times do the duplicate combinations come up?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the most common multiplier for Powerball?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Has the number of times winning numbers show up changed over the years?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the percentages of numbers showing up from each different number range? </a:t>
            </a:r>
            <a:endParaRPr/>
          </a:p>
        </p:txBody>
      </p:sp>
      <p:pic>
        <p:nvPicPr>
          <p:cNvPr descr="Businessman analyze data of stock market research. (Provided by Getty Images)"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8375" y="0"/>
            <a:ext cx="2455624" cy="163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 used a </a:t>
            </a:r>
            <a:r>
              <a:rPr lang="en"/>
              <a:t>dataset</a:t>
            </a:r>
            <a:r>
              <a:rPr lang="en"/>
              <a:t> from data.gov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 used a Powerball sequence for a row  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 used Jupyter Notebook, Pandas, NumPy, and Matplotlib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Before                                                     After</a:t>
            </a:r>
            <a:endParaRPr/>
          </a:p>
        </p:txBody>
      </p:sp>
      <p:pic>
        <p:nvPicPr>
          <p:cNvPr id="69" name="Google Shape;69;p15" title="before datase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075" y="2297225"/>
            <a:ext cx="2594025" cy="276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 title="Screenshot after datase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950" y="2375625"/>
            <a:ext cx="4374225" cy="261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90"/>
              <a:buNone/>
            </a:pPr>
            <a:r>
              <a:rPr lang="en" sz="1820"/>
              <a:t>Are there duplicate winning number combinations, and if so, how many times do the duplicate combinations come up?</a:t>
            </a:r>
            <a:endParaRPr sz="2900"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duplicates</a:t>
            </a:r>
            <a:endParaRPr/>
          </a:p>
        </p:txBody>
      </p:sp>
      <p:pic>
        <p:nvPicPr>
          <p:cNvPr id="77" name="Google Shape;77;p16" title="Screenshot 2025 duplicate number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2275" y="3360038"/>
            <a:ext cx="3181350" cy="69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600"/>
              <a:t>What is the most common multiplier for Powerball?</a:t>
            </a:r>
            <a:endParaRPr sz="3800"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Most common </a:t>
            </a:r>
            <a:r>
              <a:rPr lang="en"/>
              <a:t>multiplier</a:t>
            </a:r>
            <a:r>
              <a:rPr lang="en"/>
              <a:t> was 2x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Thought it would be more interesting / more random</a:t>
            </a:r>
            <a:endParaRPr/>
          </a:p>
        </p:txBody>
      </p:sp>
      <p:pic>
        <p:nvPicPr>
          <p:cNvPr id="84" name="Google Shape;84;p17" title="Screenshot graph 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4926" y="2071951"/>
            <a:ext cx="4061751" cy="249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500"/>
              <a:t>Which powerball numbers show up most often? </a:t>
            </a:r>
            <a:endParaRPr sz="3700"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Powerball</a:t>
            </a:r>
            <a:r>
              <a:rPr lang="en"/>
              <a:t> number not the white balls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24 most popular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Condensed it to top 10</a:t>
            </a:r>
            <a:endParaRPr/>
          </a:p>
        </p:txBody>
      </p:sp>
      <p:pic>
        <p:nvPicPr>
          <p:cNvPr id="91" name="Google Shape;91;p18" title="Screenshot graph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50" y="2149725"/>
            <a:ext cx="3406925" cy="228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90"/>
              <a:buNone/>
            </a:pPr>
            <a:r>
              <a:rPr lang="en" sz="1720"/>
              <a:t>What are the percentages of numbers showing up from each different number range? </a:t>
            </a:r>
            <a:endParaRPr sz="2800"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Most popular range 31-40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Least popular range 61-69 because of rules of Powerball</a:t>
            </a:r>
            <a:endParaRPr/>
          </a:p>
        </p:txBody>
      </p:sp>
      <p:pic>
        <p:nvPicPr>
          <p:cNvPr id="98" name="Google Shape;98;p19" title="Screenshot  graphg 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9350" y="2008320"/>
            <a:ext cx="3387851" cy="224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900"/>
              <a:t>Has the number of times winning numbers show up changed over the years?</a:t>
            </a:r>
            <a:endParaRPr sz="3100"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Explain heatmap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 there is a void spot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Good </a:t>
            </a:r>
            <a:r>
              <a:rPr lang="en"/>
              <a:t>number</a:t>
            </a:r>
            <a:r>
              <a:rPr lang="en"/>
              <a:t> picks based on this</a:t>
            </a:r>
            <a:endParaRPr/>
          </a:p>
        </p:txBody>
      </p:sp>
      <p:pic>
        <p:nvPicPr>
          <p:cNvPr id="105" name="Google Shape;105;p20" title="Screenshot 2025-12-17 08491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6650" y="2175750"/>
            <a:ext cx="6015899" cy="271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</a:t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Scrape from the New York Lottery Powerball website and get jackpots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Analyze why some might be bigger than others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Also instead of </a:t>
            </a:r>
            <a:r>
              <a:rPr lang="en"/>
              <a:t>analyzing by year I can specify by months or days</a:t>
            </a:r>
            <a:r>
              <a:rPr lang="en"/>
              <a:t> </a:t>
            </a:r>
            <a:endParaRPr/>
          </a:p>
        </p:txBody>
      </p:sp>
      <p:pic>
        <p:nvPicPr>
          <p:cNvPr id="112" name="Google Shape;112;p21" title="Screenshot jackp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5675" y="2462700"/>
            <a:ext cx="3407275" cy="190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Thoughts</a:t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266275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My numbers (37, 28,36, 20, 33, </a:t>
            </a:r>
            <a:r>
              <a:rPr b="1" lang="en"/>
              <a:t>24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</a:t>
            </a:r>
            <a:r>
              <a:rPr lang="en"/>
              <a:t>npredictable</a:t>
            </a:r>
            <a:endParaRPr/>
          </a:p>
        </p:txBody>
      </p:sp>
      <p:pic>
        <p:nvPicPr>
          <p:cNvPr id="119" name="Google Shape;119;p22" title="Screenshot graph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9672" y="50525"/>
            <a:ext cx="3156553" cy="211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2" title="Screenshot jack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37000" y="599775"/>
            <a:ext cx="1807000" cy="427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2" title="Screenshot 2025-12-17 08491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2163850"/>
            <a:ext cx="6015899" cy="271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Appendix</a:t>
            </a:r>
            <a:endParaRPr/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1161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Thank you!</a:t>
            </a:r>
            <a:endParaRPr sz="3600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Any Questions</a:t>
            </a:r>
            <a:r>
              <a:rPr lang="en"/>
              <a:t> 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